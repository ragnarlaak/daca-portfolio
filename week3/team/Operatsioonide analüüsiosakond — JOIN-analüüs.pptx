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1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4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6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0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8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1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0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54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1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50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1369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56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3836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1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93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7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t-E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t-E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t-E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t-E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t-E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t-E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t-E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t-E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7EB23-9CF1-492D-BA55-5C44726278E2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E1B4C6A-38DE-4A3D-845A-F5A29CEFD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4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0972-DC9A-76F3-EC83-A863BDB3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08498" cy="13208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Operatsioonide</a:t>
            </a:r>
            <a:r>
              <a:rPr lang="en-US" dirty="0"/>
              <a:t> </a:t>
            </a:r>
            <a:r>
              <a:rPr lang="en-US" dirty="0" err="1"/>
              <a:t>analüüsiosakond</a:t>
            </a:r>
            <a:r>
              <a:rPr lang="et-EE" b="1" noProof="0" dirty="0"/>
              <a:t> — JOIN-analüüs</a:t>
            </a:r>
            <a:br>
              <a:rPr lang="et-EE" noProof="0" dirty="0"/>
            </a:br>
            <a:endParaRPr lang="et-EE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772EE-BB37-BBB8-ACF4-F2CEBFE9C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208"/>
            <a:ext cx="10515600" cy="4727448"/>
          </a:xfrm>
        </p:spPr>
        <p:txBody>
          <a:bodyPr>
            <a:normAutofit lnSpcReduction="10000"/>
          </a:bodyPr>
          <a:lstStyle/>
          <a:p>
            <a:r>
              <a:rPr lang="et-EE" sz="2400" b="1" noProof="0" dirty="0"/>
              <a:t>Peamised leiud:</a:t>
            </a:r>
            <a:r>
              <a:rPr lang="et-EE" sz="2400" noProof="0" dirty="0"/>
              <a:t> </a:t>
            </a:r>
          </a:p>
          <a:p>
            <a:r>
              <a:rPr lang="et-EE" sz="2400" noProof="0" dirty="0"/>
              <a:t>TOP kliendid</a:t>
            </a:r>
            <a:r>
              <a:rPr lang="en-US" sz="2400" noProof="0" dirty="0"/>
              <a:t> on</a:t>
            </a:r>
            <a:r>
              <a:rPr lang="et-EE" sz="2400" noProof="0" dirty="0"/>
              <a:t> Tiina Pärn, Priit Rand ja Kevin Org ning enim müüke tuleb Tallinnast. Kõige kasumlikum lojaalsustase on </a:t>
            </a:r>
            <a:r>
              <a:rPr lang="et-EE" sz="2400" noProof="0" dirty="0" err="1"/>
              <a:t>silver</a:t>
            </a:r>
            <a:r>
              <a:rPr lang="en-US" sz="2400" noProof="0" dirty="0"/>
              <a:t>(593 470€)</a:t>
            </a:r>
            <a:r>
              <a:rPr lang="et-EE" sz="2400" noProof="0" dirty="0"/>
              <a:t>.</a:t>
            </a:r>
          </a:p>
          <a:p>
            <a:r>
              <a:rPr lang="et-EE" sz="2400" noProof="0" dirty="0"/>
              <a:t>"Kadunud kliendid" : 599 klienti pole kordagi ostnud, neist enim on Tallinnas</a:t>
            </a:r>
            <a:r>
              <a:rPr lang="en-US" sz="2400" noProof="0" dirty="0"/>
              <a:t>(231)</a:t>
            </a:r>
            <a:r>
              <a:rPr lang="et-EE" sz="2400" noProof="0" dirty="0"/>
              <a:t>, Tartus</a:t>
            </a:r>
            <a:r>
              <a:rPr lang="en-US" sz="2400" noProof="0" dirty="0"/>
              <a:t>(133)</a:t>
            </a:r>
            <a:r>
              <a:rPr lang="et-EE" sz="2400" noProof="0" dirty="0"/>
              <a:t> ja Pärnus</a:t>
            </a:r>
            <a:r>
              <a:rPr lang="en-US" sz="2400" noProof="0" dirty="0"/>
              <a:t>(70)</a:t>
            </a:r>
            <a:r>
              <a:rPr lang="et-EE" sz="2400" noProof="0" dirty="0"/>
              <a:t>. Suur osa neist on värsked kliendid</a:t>
            </a:r>
            <a:r>
              <a:rPr lang="en-US" sz="2400" noProof="0" dirty="0"/>
              <a:t> (393)</a:t>
            </a:r>
            <a:r>
              <a:rPr lang="et-EE" sz="2400" noProof="0" dirty="0"/>
              <a:t>.</a:t>
            </a:r>
          </a:p>
          <a:p>
            <a:r>
              <a:rPr lang="et-EE" sz="2400" noProof="0" dirty="0"/>
              <a:t>Müümata tooted ja inventuur : 12 toodet pole kordagi müüdud ning osa laoseise on väga madalad või negatiivsed. </a:t>
            </a:r>
            <a:r>
              <a:rPr lang="en-US" sz="2400" noProof="0" dirty="0" err="1"/>
              <a:t>Edukamad</a:t>
            </a:r>
            <a:r>
              <a:rPr lang="en-US" sz="2400" noProof="0" dirty="0"/>
              <a:t> </a:t>
            </a:r>
            <a:r>
              <a:rPr lang="en-US" sz="2400" noProof="0" dirty="0" err="1"/>
              <a:t>kategooriad</a:t>
            </a:r>
            <a:r>
              <a:rPr lang="en-US" sz="2400" noProof="0" dirty="0"/>
              <a:t> – </a:t>
            </a:r>
            <a:r>
              <a:rPr lang="en-US" sz="2400" noProof="0" dirty="0" err="1"/>
              <a:t>jalanõud</a:t>
            </a:r>
            <a:r>
              <a:rPr lang="en-US" sz="2400" noProof="0" dirty="0"/>
              <a:t>, </a:t>
            </a:r>
            <a:r>
              <a:rPr lang="en-US" sz="2400" noProof="0" dirty="0" err="1"/>
              <a:t>meeste</a:t>
            </a:r>
            <a:r>
              <a:rPr lang="en-US" sz="2400" noProof="0" dirty="0"/>
              <a:t> </a:t>
            </a:r>
            <a:r>
              <a:rPr lang="en-US" sz="2400" noProof="0" dirty="0" err="1"/>
              <a:t>riided</a:t>
            </a:r>
            <a:r>
              <a:rPr lang="en-US" sz="2400" noProof="0" dirty="0"/>
              <a:t> ja </a:t>
            </a:r>
            <a:r>
              <a:rPr lang="en-US" sz="2400" noProof="0" dirty="0" err="1"/>
              <a:t>naiste</a:t>
            </a:r>
            <a:r>
              <a:rPr lang="en-US" sz="2400" noProof="0" dirty="0"/>
              <a:t> </a:t>
            </a:r>
            <a:r>
              <a:rPr lang="en-US" sz="2400" noProof="0" dirty="0" err="1"/>
              <a:t>riided</a:t>
            </a:r>
            <a:r>
              <a:rPr lang="en-US" sz="2400" noProof="0" dirty="0"/>
              <a:t>.</a:t>
            </a:r>
            <a:endParaRPr lang="et-EE" sz="2400" noProof="0" dirty="0"/>
          </a:p>
          <a:p>
            <a:r>
              <a:rPr lang="et-EE" sz="2400" noProof="0" dirty="0"/>
              <a:t>Müügikanalite efektiivsus: </a:t>
            </a:r>
            <a:r>
              <a:rPr lang="en-US" sz="2400" noProof="0" dirty="0" err="1"/>
              <a:t>Poed</a:t>
            </a:r>
            <a:r>
              <a:rPr lang="en-US" sz="2400" noProof="0" dirty="0"/>
              <a:t> </a:t>
            </a:r>
            <a:r>
              <a:rPr lang="en-US" sz="2400" noProof="0" dirty="0" err="1"/>
              <a:t>asuvad</a:t>
            </a:r>
            <a:r>
              <a:rPr lang="en-US" sz="2400" noProof="0" dirty="0"/>
              <a:t> </a:t>
            </a:r>
            <a:r>
              <a:rPr lang="et-EE" sz="2400" noProof="0" dirty="0"/>
              <a:t>Tallinn</a:t>
            </a:r>
            <a:r>
              <a:rPr lang="en-US" sz="2400" dirty="0"/>
              <a:t>as</a:t>
            </a:r>
            <a:r>
              <a:rPr lang="et-EE" sz="2400" noProof="0" dirty="0"/>
              <a:t>, Tartu</a:t>
            </a:r>
            <a:r>
              <a:rPr lang="en-US" sz="2400" noProof="0" dirty="0"/>
              <a:t>s</a:t>
            </a:r>
            <a:r>
              <a:rPr lang="et-EE" sz="2400" noProof="0" dirty="0"/>
              <a:t> ja Pärnu</a:t>
            </a:r>
            <a:r>
              <a:rPr lang="en-US" sz="2400" noProof="0" dirty="0"/>
              <a:t>s, </a:t>
            </a:r>
            <a:r>
              <a:rPr lang="en-US" sz="2400" noProof="0" dirty="0" err="1"/>
              <a:t>kuid</a:t>
            </a:r>
            <a:r>
              <a:rPr lang="en-US" sz="2400" noProof="0" dirty="0"/>
              <a:t> </a:t>
            </a:r>
            <a:r>
              <a:rPr lang="en-US" sz="2400" noProof="0" dirty="0" err="1"/>
              <a:t>kliendid</a:t>
            </a:r>
            <a:r>
              <a:rPr lang="en-US" sz="2400" noProof="0" dirty="0"/>
              <a:t> </a:t>
            </a:r>
            <a:r>
              <a:rPr lang="en-US" sz="2400" noProof="0" dirty="0" err="1"/>
              <a:t>kä</a:t>
            </a:r>
            <a:r>
              <a:rPr lang="en-US" sz="2400" dirty="0" err="1"/>
              <a:t>ivad</a:t>
            </a:r>
            <a:r>
              <a:rPr lang="en-US" sz="2400" dirty="0"/>
              <a:t> </a:t>
            </a:r>
            <a:r>
              <a:rPr lang="en-US" sz="2400" dirty="0" err="1"/>
              <a:t>oste</a:t>
            </a:r>
            <a:r>
              <a:rPr lang="en-US" sz="2400" dirty="0"/>
              <a:t> </a:t>
            </a:r>
            <a:r>
              <a:rPr lang="en-US" sz="2400" dirty="0" err="1"/>
              <a:t>sooritamas</a:t>
            </a:r>
            <a:r>
              <a:rPr lang="en-US" sz="2400" dirty="0"/>
              <a:t> ka </a:t>
            </a:r>
            <a:r>
              <a:rPr lang="en-US" sz="2400" dirty="0" err="1"/>
              <a:t>väljaspool</a:t>
            </a:r>
            <a:r>
              <a:rPr lang="et-EE" sz="2400" noProof="0" dirty="0"/>
              <a:t> </a:t>
            </a:r>
            <a:r>
              <a:rPr lang="en-US" sz="2400" noProof="0" dirty="0" err="1"/>
              <a:t>oma</a:t>
            </a:r>
            <a:r>
              <a:rPr lang="en-US" sz="2400" noProof="0" dirty="0"/>
              <a:t> </a:t>
            </a:r>
            <a:r>
              <a:rPr lang="en-US" sz="2400" noProof="0" dirty="0" err="1"/>
              <a:t>kodulinna</a:t>
            </a:r>
            <a:r>
              <a:rPr lang="en-US" sz="2400" noProof="0" dirty="0"/>
              <a:t>. </a:t>
            </a:r>
            <a:r>
              <a:rPr lang="en-US" sz="2400" noProof="0" dirty="0" err="1"/>
              <a:t>Poodide</a:t>
            </a:r>
            <a:r>
              <a:rPr lang="en-US" sz="2400" noProof="0" dirty="0"/>
              <a:t> </a:t>
            </a:r>
            <a:r>
              <a:rPr lang="en-US" sz="2400" noProof="0" dirty="0" err="1"/>
              <a:t>müük</a:t>
            </a:r>
            <a:r>
              <a:rPr lang="en-US" sz="2400" noProof="0" dirty="0"/>
              <a:t> 65,4%, online </a:t>
            </a:r>
            <a:r>
              <a:rPr lang="en-US" sz="2400" noProof="0" dirty="0" err="1"/>
              <a:t>müük</a:t>
            </a:r>
            <a:r>
              <a:rPr lang="en-US" sz="2400" noProof="0" dirty="0"/>
              <a:t> 34,6%</a:t>
            </a:r>
            <a:endParaRPr lang="et-EE" sz="2400" noProof="0" dirty="0"/>
          </a:p>
          <a:p>
            <a:endParaRPr lang="et-EE" noProof="0" dirty="0"/>
          </a:p>
        </p:txBody>
      </p:sp>
    </p:spTree>
    <p:extLst>
      <p:ext uri="{BB962C8B-B14F-4D97-AF65-F5344CB8AC3E}">
        <p14:creationId xmlns:p14="http://schemas.microsoft.com/office/powerpoint/2010/main" val="154677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85384-F05A-9C6D-D0F4-EFA2C3FF8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4128"/>
            <a:ext cx="10515600" cy="5152835"/>
          </a:xfrm>
        </p:spPr>
        <p:txBody>
          <a:bodyPr>
            <a:normAutofit/>
          </a:bodyPr>
          <a:lstStyle/>
          <a:p>
            <a:pPr lvl="0"/>
            <a:r>
              <a:rPr lang="et-EE" sz="2400" b="1" noProof="0" dirty="0"/>
              <a:t>Suurim üllatus:</a:t>
            </a:r>
            <a:r>
              <a:rPr lang="et-EE" sz="2400" noProof="0" dirty="0"/>
              <a:t> </a:t>
            </a:r>
            <a:br>
              <a:rPr lang="et-EE" sz="2400" noProof="0" dirty="0"/>
            </a:br>
            <a:r>
              <a:rPr lang="et-EE" sz="2400" noProof="0" dirty="0"/>
              <a:t>Suurim üllatus oli see, et </a:t>
            </a:r>
            <a:r>
              <a:rPr lang="et-EE" sz="2400" noProof="0" dirty="0" err="1"/>
              <a:t>silver</a:t>
            </a:r>
            <a:r>
              <a:rPr lang="et-EE" sz="2400" noProof="0" dirty="0"/>
              <a:t>-tase kliendid toovad rohkem tulu kui </a:t>
            </a:r>
            <a:r>
              <a:rPr lang="et-EE" sz="2400" noProof="0" dirty="0" err="1"/>
              <a:t>gold</a:t>
            </a:r>
            <a:r>
              <a:rPr lang="et-EE" sz="2400" noProof="0" dirty="0"/>
              <a:t>-tase — ja et 599 registreerunud klienti pole kordagi ostnud. Positiivne üllatus on aga see, et enamik neist registreerus just 2024–2025, ehk nad on veel aktiivsed ja kättesaadavad.</a:t>
            </a:r>
          </a:p>
          <a:p>
            <a:pPr lvl="0"/>
            <a:r>
              <a:rPr lang="et-EE" sz="2400" b="1" noProof="0" dirty="0"/>
              <a:t>Soovitus Annale:</a:t>
            </a:r>
            <a:r>
              <a:rPr lang="et-EE" sz="2400" noProof="0" dirty="0"/>
              <a:t> </a:t>
            </a:r>
            <a:r>
              <a:rPr lang="en-US" sz="2400" noProof="0" dirty="0"/>
              <a:t>1)</a:t>
            </a:r>
            <a:r>
              <a:rPr lang="et-EE" sz="2400" noProof="0" dirty="0"/>
              <a:t> Saata kohe esimese ostu kampaania 599-le kadunud kliendile — personaalne sooduskood või tasuta tarne. </a:t>
            </a:r>
            <a:r>
              <a:rPr lang="en-US" sz="2400" noProof="0" dirty="0"/>
              <a:t>2)</a:t>
            </a:r>
            <a:r>
              <a:rPr lang="et-EE" sz="2400" noProof="0" dirty="0"/>
              <a:t> Likvideerida või alla</a:t>
            </a:r>
            <a:r>
              <a:rPr lang="en-US" sz="2400" noProof="0" dirty="0"/>
              <a:t> </a:t>
            </a:r>
            <a:r>
              <a:rPr lang="et-EE" sz="2400" noProof="0" dirty="0"/>
              <a:t>hinnata 12 müümata toodet — need on laos seisev raha. </a:t>
            </a:r>
            <a:r>
              <a:rPr lang="en-US" sz="2400" noProof="0" dirty="0"/>
              <a:t>3)</a:t>
            </a:r>
            <a:r>
              <a:rPr lang="et-EE" sz="2400" noProof="0" dirty="0"/>
              <a:t> Suunata turunduseelarve e-poodi ja </a:t>
            </a:r>
            <a:r>
              <a:rPr lang="et-EE" sz="2400" noProof="0" dirty="0" err="1"/>
              <a:t>silver</a:t>
            </a:r>
            <a:r>
              <a:rPr lang="et-EE" sz="2400" noProof="0" dirty="0"/>
              <a:t>-taseme klientide aktiveerimisele, sest seal on suurim kasvupotentsiaal. </a:t>
            </a:r>
            <a:r>
              <a:rPr lang="en-US" sz="2400" noProof="0" dirty="0"/>
              <a:t>4) </a:t>
            </a:r>
            <a:r>
              <a:rPr lang="en-US" sz="2400" noProof="0" dirty="0" err="1"/>
              <a:t>Klienditeenindajad</a:t>
            </a:r>
            <a:r>
              <a:rPr lang="en-US" sz="2400" noProof="0" dirty="0"/>
              <a:t> peaks </a:t>
            </a:r>
            <a:r>
              <a:rPr lang="en-US" sz="2400" noProof="0" dirty="0" err="1"/>
              <a:t>süsteemis</a:t>
            </a:r>
            <a:r>
              <a:rPr lang="en-US" sz="2400" noProof="0" dirty="0"/>
              <a:t> </a:t>
            </a:r>
            <a:r>
              <a:rPr lang="en-US" sz="2400" noProof="0" dirty="0" err="1"/>
              <a:t>kliendiandme</a:t>
            </a:r>
            <a:r>
              <a:rPr lang="en-US" sz="2400" noProof="0" dirty="0"/>
              <a:t> </a:t>
            </a:r>
            <a:r>
              <a:rPr lang="en-US" sz="2400" noProof="0" dirty="0" err="1"/>
              <a:t>väljasid</a:t>
            </a:r>
            <a:r>
              <a:rPr lang="en-US" sz="2400" noProof="0" dirty="0"/>
              <a:t> </a:t>
            </a:r>
            <a:r>
              <a:rPr lang="en-US" sz="2400" noProof="0" dirty="0" err="1"/>
              <a:t>täitma</a:t>
            </a:r>
            <a:r>
              <a:rPr lang="en-US" sz="2400" noProof="0" dirty="0"/>
              <a:t> </a:t>
            </a:r>
            <a:r>
              <a:rPr lang="en-US" sz="2400" noProof="0" dirty="0" err="1"/>
              <a:t>korrektsemalt</a:t>
            </a:r>
            <a:r>
              <a:rPr lang="en-US" sz="2400" noProof="0" dirty="0"/>
              <a:t>.</a:t>
            </a:r>
            <a:endParaRPr lang="et-EE" sz="2400" noProof="0" dirty="0"/>
          </a:p>
          <a:p>
            <a:pPr lvl="0"/>
            <a:r>
              <a:rPr lang="et-EE" sz="2400" b="1" noProof="0" dirty="0"/>
              <a:t>Puuduvad andmed:</a:t>
            </a:r>
            <a:r>
              <a:rPr lang="et-EE" sz="2400" noProof="0" dirty="0"/>
              <a:t> Vajame kliendi rahulolu, tagastuste, kampaaniate maksumuse, kasumimarginaalide ja konkurentide hindade andmeid.</a:t>
            </a:r>
          </a:p>
          <a:p>
            <a:endParaRPr lang="et-EE" noProof="0" dirty="0"/>
          </a:p>
        </p:txBody>
      </p:sp>
    </p:spTree>
    <p:extLst>
      <p:ext uri="{BB962C8B-B14F-4D97-AF65-F5344CB8AC3E}">
        <p14:creationId xmlns:p14="http://schemas.microsoft.com/office/powerpoint/2010/main" val="3132948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98</TotalTime>
  <Words>265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Operatsioonide analüüsiosakond — JOIN-analüüs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Kätlin T.</dc:creator>
  <cp:lastModifiedBy>Kätlin T.</cp:lastModifiedBy>
  <cp:revision>13</cp:revision>
  <dcterms:created xsi:type="dcterms:W3CDTF">2026-04-16T11:01:16Z</dcterms:created>
  <dcterms:modified xsi:type="dcterms:W3CDTF">2026-04-17T12:37:40Z</dcterms:modified>
</cp:coreProperties>
</file>